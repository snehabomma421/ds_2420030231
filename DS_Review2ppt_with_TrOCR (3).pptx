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8" r:id="rId2"/>
  </p:sldMasterIdLst>
  <p:notesMasterIdLst>
    <p:notesMasterId r:id="rId13"/>
  </p:notesMasterIdLst>
  <p:sldIdLst>
    <p:sldId id="256" r:id="rId3"/>
    <p:sldId id="267" r:id="rId4"/>
    <p:sldId id="266" r:id="rId5"/>
    <p:sldId id="268" r:id="rId6"/>
    <p:sldId id="272" r:id="rId7"/>
    <p:sldId id="273" r:id="rId8"/>
    <p:sldId id="269" r:id="rId9"/>
    <p:sldId id="270" r:id="rId10"/>
    <p:sldId id="274" r:id="rId11"/>
    <p:sldId id="265" r:id="rId12"/>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1C81C0-D29B-4C64-A39B-9C644A27861E}" v="11" dt="2026-09-12T06:36:17.9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3" d="100"/>
          <a:sy n="43" d="100"/>
        </p:scale>
        <p:origin x="2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9/22/2026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22-09-2026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22-09-2026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808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AFC1C-3AE9-60AE-AF6E-021CD6A76F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0C4196-0187-D769-BC3E-0DF6A700FA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30DD70-16D3-56F3-6342-B94B4F2E0D1F}"/>
              </a:ext>
            </a:extLst>
          </p:cNvPr>
          <p:cNvSpPr>
            <a:spLocks noGrp="1"/>
          </p:cNvSpPr>
          <p:nvPr>
            <p:ph type="dt" sz="half" idx="10"/>
          </p:nvPr>
        </p:nvSpPr>
        <p:spPr/>
        <p:txBody>
          <a:bodyPr/>
          <a:lstStyle/>
          <a:p>
            <a:fld id="{113F1655-6176-8843-98F6-F743980649D1}" type="datetime1">
              <a:rPr lang="en-IN" smtClean="0"/>
              <a:t>22-09-2026</a:t>
            </a:fld>
            <a:endParaRPr lang="en-US"/>
          </a:p>
        </p:txBody>
      </p:sp>
      <p:sp>
        <p:nvSpPr>
          <p:cNvPr id="5" name="Footer Placeholder 4">
            <a:extLst>
              <a:ext uri="{FF2B5EF4-FFF2-40B4-BE49-F238E27FC236}">
                <a16:creationId xmlns:a16="http://schemas.microsoft.com/office/drawing/2014/main" id="{DF67E138-E5FE-1F3F-97DF-D73896D2A449}"/>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12C02858-849F-591E-09C1-71C43A64D24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6058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6D4DF-9DC1-7F26-D922-33FAC373FA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ADD3EC-3D18-AB38-BED8-FD4566A6C6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F0A44A-DD90-6779-91E2-07310BE66D7B}"/>
              </a:ext>
            </a:extLst>
          </p:cNvPr>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a:extLst>
              <a:ext uri="{FF2B5EF4-FFF2-40B4-BE49-F238E27FC236}">
                <a16:creationId xmlns:a16="http://schemas.microsoft.com/office/drawing/2014/main" id="{71041C11-A908-DB3A-375F-59D49DD23A87}"/>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6C735E02-ED76-F7C0-825A-B4B46158425D}"/>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300247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B806F-50CE-2026-1369-05DA33FF90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43920A-4254-B468-83F2-AB2455DB13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CD93E3-250E-E28A-9350-1ED0B056456F}"/>
              </a:ext>
            </a:extLst>
          </p:cNvPr>
          <p:cNvSpPr>
            <a:spLocks noGrp="1"/>
          </p:cNvSpPr>
          <p:nvPr>
            <p:ph type="dt" sz="half" idx="10"/>
          </p:nvPr>
        </p:nvSpPr>
        <p:spPr/>
        <p:txBody>
          <a:bodyPr/>
          <a:lstStyle/>
          <a:p>
            <a:fld id="{634EACA4-A1C6-9F4F-978A-D3AE7141A61E}" type="datetime1">
              <a:rPr lang="en-IN" smtClean="0"/>
              <a:t>22-09-2026</a:t>
            </a:fld>
            <a:endParaRPr lang="en-US"/>
          </a:p>
        </p:txBody>
      </p:sp>
      <p:sp>
        <p:nvSpPr>
          <p:cNvPr id="5" name="Footer Placeholder 4">
            <a:extLst>
              <a:ext uri="{FF2B5EF4-FFF2-40B4-BE49-F238E27FC236}">
                <a16:creationId xmlns:a16="http://schemas.microsoft.com/office/drawing/2014/main" id="{F7CB836C-28B3-8F0D-0DEF-7FB1AF99441D}"/>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2E44425B-7FD1-65D8-CF3B-C653023E2EF2}"/>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792544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0121-F00C-0802-3629-360B50883C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4F3519-D250-4AE7-B964-60BB116D80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A2CADF-C60E-1D44-8B58-B317A43CB7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4ED2F88-1B6A-4F47-B06B-CEBAB8EB7C80}"/>
              </a:ext>
            </a:extLst>
          </p:cNvPr>
          <p:cNvSpPr>
            <a:spLocks noGrp="1"/>
          </p:cNvSpPr>
          <p:nvPr>
            <p:ph type="dt" sz="half" idx="10"/>
          </p:nvPr>
        </p:nvSpPr>
        <p:spPr/>
        <p:txBody>
          <a:bodyPr/>
          <a:lstStyle/>
          <a:p>
            <a:fld id="{DA2F10E6-0672-C24B-8BA7-69AD3847874C}" type="datetime1">
              <a:rPr lang="en-IN" smtClean="0"/>
              <a:t>22-09-2026</a:t>
            </a:fld>
            <a:endParaRPr lang="en-US"/>
          </a:p>
        </p:txBody>
      </p:sp>
      <p:sp>
        <p:nvSpPr>
          <p:cNvPr id="6" name="Footer Placeholder 5">
            <a:extLst>
              <a:ext uri="{FF2B5EF4-FFF2-40B4-BE49-F238E27FC236}">
                <a16:creationId xmlns:a16="http://schemas.microsoft.com/office/drawing/2014/main" id="{3E7CAE81-B72D-533F-3253-FAD8FC5C3FF7}"/>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8C528E0D-1333-8321-7C43-B83E9E527FA5}"/>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91918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2F5CB-7D82-275B-AA69-63B42BE9A7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7F835E-8C32-A5D1-D15D-8AD675E1FD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9BAC40-9D3C-631E-3FD0-2D13B3194D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EB85AE-1E85-23B3-1514-162B1798BF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71AC21-DA42-7625-24B9-7A257316EF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5A7E882-F348-83D8-F123-95C64533A04A}"/>
              </a:ext>
            </a:extLst>
          </p:cNvPr>
          <p:cNvSpPr>
            <a:spLocks noGrp="1"/>
          </p:cNvSpPr>
          <p:nvPr>
            <p:ph type="dt" sz="half" idx="10"/>
          </p:nvPr>
        </p:nvSpPr>
        <p:spPr/>
        <p:txBody>
          <a:bodyPr/>
          <a:lstStyle/>
          <a:p>
            <a:fld id="{C3C70737-B6DD-A042-B94C-464B3C8698F2}" type="datetime1">
              <a:rPr lang="en-IN" smtClean="0"/>
              <a:t>22-09-2026</a:t>
            </a:fld>
            <a:endParaRPr lang="en-US"/>
          </a:p>
        </p:txBody>
      </p:sp>
      <p:sp>
        <p:nvSpPr>
          <p:cNvPr id="8" name="Footer Placeholder 7">
            <a:extLst>
              <a:ext uri="{FF2B5EF4-FFF2-40B4-BE49-F238E27FC236}">
                <a16:creationId xmlns:a16="http://schemas.microsoft.com/office/drawing/2014/main" id="{498C1D8E-A156-F188-44F5-5EF732861A5C}"/>
              </a:ext>
            </a:extLst>
          </p:cNvPr>
          <p:cNvSpPr>
            <a:spLocks noGrp="1"/>
          </p:cNvSpPr>
          <p:nvPr>
            <p:ph type="ftr" sz="quarter" idx="11"/>
          </p:nvPr>
        </p:nvSpPr>
        <p:spPr/>
        <p:txBody>
          <a:bodyPr/>
          <a:lstStyle/>
          <a:p>
            <a:r>
              <a:rPr lang="en-US"/>
              <a:t>REVIEW – 1 / 2 / 3    173030211    Department of CSE</a:t>
            </a:r>
          </a:p>
        </p:txBody>
      </p:sp>
      <p:sp>
        <p:nvSpPr>
          <p:cNvPr id="9" name="Slide Number Placeholder 8">
            <a:extLst>
              <a:ext uri="{FF2B5EF4-FFF2-40B4-BE49-F238E27FC236}">
                <a16:creationId xmlns:a16="http://schemas.microsoft.com/office/drawing/2014/main" id="{8D434616-C5FB-0F59-36EE-0CFEAFA40708}"/>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092566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C0184-4660-39D6-6035-494A107996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C07D9D-1DA6-7B06-8861-843201BDB677}"/>
              </a:ext>
            </a:extLst>
          </p:cNvPr>
          <p:cNvSpPr>
            <a:spLocks noGrp="1"/>
          </p:cNvSpPr>
          <p:nvPr>
            <p:ph type="dt" sz="half" idx="10"/>
          </p:nvPr>
        </p:nvSpPr>
        <p:spPr/>
        <p:txBody>
          <a:bodyPr/>
          <a:lstStyle/>
          <a:p>
            <a:fld id="{247A86FA-D70B-B047-9EE8-E3556A998703}" type="datetime1">
              <a:rPr lang="en-IN" smtClean="0"/>
              <a:t>22-09-2026</a:t>
            </a:fld>
            <a:endParaRPr lang="en-US"/>
          </a:p>
        </p:txBody>
      </p:sp>
      <p:sp>
        <p:nvSpPr>
          <p:cNvPr id="4" name="Footer Placeholder 3">
            <a:extLst>
              <a:ext uri="{FF2B5EF4-FFF2-40B4-BE49-F238E27FC236}">
                <a16:creationId xmlns:a16="http://schemas.microsoft.com/office/drawing/2014/main" id="{7DCCB940-CBF9-7D05-1AF8-28017D0971A4}"/>
              </a:ext>
            </a:extLst>
          </p:cNvPr>
          <p:cNvSpPr>
            <a:spLocks noGrp="1"/>
          </p:cNvSpPr>
          <p:nvPr>
            <p:ph type="ftr" sz="quarter" idx="11"/>
          </p:nvPr>
        </p:nvSpPr>
        <p:spPr/>
        <p:txBody>
          <a:bodyPr/>
          <a:lstStyle/>
          <a:p>
            <a:r>
              <a:rPr lang="en-US"/>
              <a:t>REVIEW – 1 / 2 / 3    173030211    Department of CSE</a:t>
            </a:r>
          </a:p>
        </p:txBody>
      </p:sp>
      <p:sp>
        <p:nvSpPr>
          <p:cNvPr id="5" name="Slide Number Placeholder 4">
            <a:extLst>
              <a:ext uri="{FF2B5EF4-FFF2-40B4-BE49-F238E27FC236}">
                <a16:creationId xmlns:a16="http://schemas.microsoft.com/office/drawing/2014/main" id="{E0E0E402-A2FA-660E-1B4E-69CA018FCC4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61212913"/>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8D12BE-BC7E-A733-C26D-19124E437C63}"/>
              </a:ext>
            </a:extLst>
          </p:cNvPr>
          <p:cNvSpPr>
            <a:spLocks noGrp="1"/>
          </p:cNvSpPr>
          <p:nvPr>
            <p:ph type="dt" sz="half" idx="10"/>
          </p:nvPr>
        </p:nvSpPr>
        <p:spPr/>
        <p:txBody>
          <a:bodyPr/>
          <a:lstStyle/>
          <a:p>
            <a:fld id="{247A86FA-D70B-B047-9EE8-E3556A998703}" type="datetime1">
              <a:rPr lang="en-IN" smtClean="0"/>
              <a:t>22-09-2026</a:t>
            </a:fld>
            <a:endParaRPr lang="en-US"/>
          </a:p>
        </p:txBody>
      </p:sp>
      <p:sp>
        <p:nvSpPr>
          <p:cNvPr id="3" name="Footer Placeholder 2">
            <a:extLst>
              <a:ext uri="{FF2B5EF4-FFF2-40B4-BE49-F238E27FC236}">
                <a16:creationId xmlns:a16="http://schemas.microsoft.com/office/drawing/2014/main" id="{F23CE4DA-73DC-BEC2-26CA-86531ACD8756}"/>
              </a:ext>
            </a:extLst>
          </p:cNvPr>
          <p:cNvSpPr>
            <a:spLocks noGrp="1"/>
          </p:cNvSpPr>
          <p:nvPr>
            <p:ph type="ftr" sz="quarter" idx="11"/>
          </p:nvPr>
        </p:nvSpPr>
        <p:spPr/>
        <p:txBody>
          <a:bodyPr/>
          <a:lstStyle/>
          <a:p>
            <a:r>
              <a:rPr lang="en-US"/>
              <a:t>REVIEW – 1 / 2 / 3    173030211    Department of CSE</a:t>
            </a:r>
          </a:p>
        </p:txBody>
      </p:sp>
      <p:sp>
        <p:nvSpPr>
          <p:cNvPr id="4" name="Slide Number Placeholder 3">
            <a:extLst>
              <a:ext uri="{FF2B5EF4-FFF2-40B4-BE49-F238E27FC236}">
                <a16:creationId xmlns:a16="http://schemas.microsoft.com/office/drawing/2014/main" id="{155804B0-0C2C-4487-9A98-F00AF8A3B8A1}"/>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330812905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DC2C-3594-798D-50BF-F9B5722C23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C8B1DB-6F48-B026-E112-44C8AF6C32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F8DD1F4-E958-3657-910F-EF33EB41F0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2A3685-7A8A-A9B5-2410-8B20B166618C}"/>
              </a:ext>
            </a:extLst>
          </p:cNvPr>
          <p:cNvSpPr>
            <a:spLocks noGrp="1"/>
          </p:cNvSpPr>
          <p:nvPr>
            <p:ph type="dt" sz="half" idx="10"/>
          </p:nvPr>
        </p:nvSpPr>
        <p:spPr/>
        <p:txBody>
          <a:bodyPr/>
          <a:lstStyle/>
          <a:p>
            <a:fld id="{247A86FA-D70B-B047-9EE8-E3556A998703}" type="datetime1">
              <a:rPr lang="en-IN" smtClean="0"/>
              <a:t>22-09-2026</a:t>
            </a:fld>
            <a:endParaRPr lang="en-US"/>
          </a:p>
        </p:txBody>
      </p:sp>
      <p:sp>
        <p:nvSpPr>
          <p:cNvPr id="6" name="Footer Placeholder 5">
            <a:extLst>
              <a:ext uri="{FF2B5EF4-FFF2-40B4-BE49-F238E27FC236}">
                <a16:creationId xmlns:a16="http://schemas.microsoft.com/office/drawing/2014/main" id="{52879F43-E5A3-DE32-D426-E244126DBFB6}"/>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FD88E924-3701-5DF9-2F01-80536DEFC0D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745421408"/>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98E3-CDF8-431E-4F0A-D76B0285D7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7467827-D0E6-7C3A-E3DC-F5070123B7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B1BEFB-5469-70C6-D034-9D3C4946F7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FAE562-F602-1358-ABBB-49DAF47A564E}"/>
              </a:ext>
            </a:extLst>
          </p:cNvPr>
          <p:cNvSpPr>
            <a:spLocks noGrp="1"/>
          </p:cNvSpPr>
          <p:nvPr>
            <p:ph type="dt" sz="half" idx="10"/>
          </p:nvPr>
        </p:nvSpPr>
        <p:spPr/>
        <p:txBody>
          <a:bodyPr/>
          <a:lstStyle/>
          <a:p>
            <a:fld id="{247A86FA-D70B-B047-9EE8-E3556A998703}" type="datetime1">
              <a:rPr lang="en-IN" smtClean="0"/>
              <a:t>22-09-2026</a:t>
            </a:fld>
            <a:endParaRPr lang="en-US"/>
          </a:p>
        </p:txBody>
      </p:sp>
      <p:sp>
        <p:nvSpPr>
          <p:cNvPr id="6" name="Footer Placeholder 5">
            <a:extLst>
              <a:ext uri="{FF2B5EF4-FFF2-40B4-BE49-F238E27FC236}">
                <a16:creationId xmlns:a16="http://schemas.microsoft.com/office/drawing/2014/main" id="{65FEDB4D-6D9A-FDDF-F3F2-A67F96374037}"/>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C1C3384F-5C32-BACD-3010-60A8FDF2A13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38439311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B5BA2-39DB-D3AC-392F-51413DF740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B54813-376F-70BE-B918-FDA5621902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257A65-0FF2-18F4-D3BF-A08627F8B137}"/>
              </a:ext>
            </a:extLst>
          </p:cNvPr>
          <p:cNvSpPr>
            <a:spLocks noGrp="1"/>
          </p:cNvSpPr>
          <p:nvPr>
            <p:ph type="dt" sz="half" idx="10"/>
          </p:nvPr>
        </p:nvSpPr>
        <p:spPr/>
        <p:txBody>
          <a:bodyPr/>
          <a:lstStyle/>
          <a:p>
            <a:fld id="{247A86FA-D70B-B047-9EE8-E3556A998703}" type="datetime1">
              <a:rPr lang="en-IN" smtClean="0"/>
              <a:t>22-09-2026</a:t>
            </a:fld>
            <a:endParaRPr lang="en-US"/>
          </a:p>
        </p:txBody>
      </p:sp>
      <p:sp>
        <p:nvSpPr>
          <p:cNvPr id="5" name="Footer Placeholder 4">
            <a:extLst>
              <a:ext uri="{FF2B5EF4-FFF2-40B4-BE49-F238E27FC236}">
                <a16:creationId xmlns:a16="http://schemas.microsoft.com/office/drawing/2014/main" id="{BFA213F1-EE43-D765-4A74-3FE6A40F127B}"/>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B68F3526-0E4B-76E6-FC01-06028DEB1CD2}"/>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64013604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8DC019-0BD1-3E12-065E-06199C0968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A1AA48-DEA4-57E9-7FC0-34A223CFEA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D522B2-9176-90D6-E394-A1C6522E51CF}"/>
              </a:ext>
            </a:extLst>
          </p:cNvPr>
          <p:cNvSpPr>
            <a:spLocks noGrp="1"/>
          </p:cNvSpPr>
          <p:nvPr>
            <p:ph type="dt" sz="half" idx="10"/>
          </p:nvPr>
        </p:nvSpPr>
        <p:spPr/>
        <p:txBody>
          <a:bodyPr/>
          <a:lstStyle/>
          <a:p>
            <a:fld id="{247A86FA-D70B-B047-9EE8-E3556A998703}" type="datetime1">
              <a:rPr lang="en-IN" smtClean="0"/>
              <a:t>22-09-2026</a:t>
            </a:fld>
            <a:endParaRPr lang="en-US"/>
          </a:p>
        </p:txBody>
      </p:sp>
      <p:sp>
        <p:nvSpPr>
          <p:cNvPr id="5" name="Footer Placeholder 4">
            <a:extLst>
              <a:ext uri="{FF2B5EF4-FFF2-40B4-BE49-F238E27FC236}">
                <a16:creationId xmlns:a16="http://schemas.microsoft.com/office/drawing/2014/main" id="{D41758AB-30F4-B50F-627E-77FF3BBCC900}"/>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19AC51DB-8C50-C65E-F415-46245FD3F3B8}"/>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623286275"/>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22-09-2026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51" r:id="rId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7969F-323A-6D7B-59E0-8DC95F4468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43F74B-5615-B60C-6F49-C8408D3BD9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82468C-99F1-0216-34C2-9AFFEBF446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7A86FA-D70B-B047-9EE8-E3556A998703}" type="datetime1">
              <a:rPr lang="en-IN" smtClean="0"/>
              <a:t>22-09-2026</a:t>
            </a:fld>
            <a:endParaRPr lang="en-US"/>
          </a:p>
        </p:txBody>
      </p:sp>
      <p:sp>
        <p:nvSpPr>
          <p:cNvPr id="5" name="Footer Placeholder 4">
            <a:extLst>
              <a:ext uri="{FF2B5EF4-FFF2-40B4-BE49-F238E27FC236}">
                <a16:creationId xmlns:a16="http://schemas.microsoft.com/office/drawing/2014/main" id="{F9928EDB-885B-FFBC-2CD4-DA9A6F115C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REVIEW – 1 / 2 / 3    173030211    Department of CSE</a:t>
            </a:r>
          </a:p>
        </p:txBody>
      </p:sp>
      <p:sp>
        <p:nvSpPr>
          <p:cNvPr id="6" name="Slide Number Placeholder 5">
            <a:extLst>
              <a:ext uri="{FF2B5EF4-FFF2-40B4-BE49-F238E27FC236}">
                <a16:creationId xmlns:a16="http://schemas.microsoft.com/office/drawing/2014/main" id="{587798B6-93CE-295B-FA15-508345CF9F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764480681"/>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1322"/>
            <a:ext cx="10515600" cy="1128395"/>
          </a:xfrm>
        </p:spPr>
        <p:txBody>
          <a:bodyPr>
            <a:noAutofit/>
          </a:bodyPr>
          <a:lstStyle/>
          <a:p>
            <a:pPr algn="ctr">
              <a:lnSpc>
                <a:spcPct val="100000"/>
              </a:lnSpc>
              <a:defRPr sz="2000">
                <a:latin typeface="Times New Roman"/>
              </a:defRPr>
            </a:pPr>
            <a:br>
              <a:rPr dirty="0"/>
            </a:br>
            <a:r>
              <a:rPr dirty="0"/>
              <a:t>DATA SCIENCE</a:t>
            </a:r>
            <a:br>
              <a:rPr dirty="0"/>
            </a:br>
            <a:r>
              <a:rPr dirty="0"/>
              <a:t>REVIEW – </a:t>
            </a:r>
            <a:r>
              <a:rPr lang="en-IN"/>
              <a:t>2</a:t>
            </a:r>
            <a:br/>
            <a:br/>
            <a:r>
              <a:t>Handwritten Text Recognition using Deep Learning</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52500" y="2463530"/>
            <a:ext cx="9534163" cy="2370972"/>
          </a:xfrm>
        </p:spPr>
        <p:txBody>
          <a:bodyPr>
            <a:noAutofit/>
          </a:bodyPr>
          <a:lstStyle/>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22-09-2026</a:t>
            </a:fld>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258528" y="3195484"/>
            <a:ext cx="10209571" cy="175458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b="1" dirty="0">
                <a:solidFill>
                  <a:schemeClr val="accent4"/>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graphicFrame>
        <p:nvGraphicFramePr>
          <p:cNvPr id="11" name="Table 10">
            <a:extLst>
              <a:ext uri="{FF2B5EF4-FFF2-40B4-BE49-F238E27FC236}">
                <a16:creationId xmlns:a16="http://schemas.microsoft.com/office/drawing/2014/main" id="{CDEACD2D-97D7-795E-BF65-81ADD9F3F057}"/>
              </a:ext>
            </a:extLst>
          </p:cNvPr>
          <p:cNvGraphicFramePr>
            <a:graphicFrameLocks noGrp="1"/>
          </p:cNvGraphicFramePr>
          <p:nvPr>
            <p:extLst>
              <p:ext uri="{D42A27DB-BD31-4B8C-83A1-F6EECF244321}">
                <p14:modId xmlns:p14="http://schemas.microsoft.com/office/powerpoint/2010/main" val="8593117"/>
              </p:ext>
            </p:extLst>
          </p:nvPr>
        </p:nvGraphicFramePr>
        <p:xfrm>
          <a:off x="2032000" y="2186305"/>
          <a:ext cx="8128000" cy="149753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132219426"/>
                    </a:ext>
                  </a:extLst>
                </a:gridCol>
                <a:gridCol w="4064000">
                  <a:extLst>
                    <a:ext uri="{9D8B030D-6E8A-4147-A177-3AD203B41FA5}">
                      <a16:colId xmlns:a16="http://schemas.microsoft.com/office/drawing/2014/main" val="3757690649"/>
                    </a:ext>
                  </a:extLst>
                </a:gridCol>
              </a:tblGrid>
              <a:tr h="385012">
                <a:tc>
                  <a:txBody>
                    <a:bodyPr/>
                    <a:lstStyle/>
                    <a:p>
                      <a:r>
                        <a:rPr lang="en-IN" dirty="0"/>
                        <a:t>                      Roll Number</a:t>
                      </a:r>
                    </a:p>
                  </a:txBody>
                  <a:tcPr/>
                </a:tc>
                <a:tc>
                  <a:txBody>
                    <a:bodyPr/>
                    <a:lstStyle/>
                    <a:p>
                      <a:r>
                        <a:rPr lang="en-IN" dirty="0"/>
                        <a:t>                      Name</a:t>
                      </a:r>
                    </a:p>
                  </a:txBody>
                  <a:tcPr/>
                </a:tc>
                <a:extLst>
                  <a:ext uri="{0D108BD9-81ED-4DB2-BD59-A6C34878D82A}">
                    <a16:rowId xmlns:a16="http://schemas.microsoft.com/office/drawing/2014/main" val="379828489"/>
                  </a:ext>
                </a:extLst>
              </a:tr>
              <a:tr h="370840">
                <a:tc>
                  <a:txBody>
                    <a:bodyPr/>
                    <a:lstStyle/>
                    <a:p>
                      <a:r>
                        <a:rPr lang="en-IN" dirty="0"/>
                        <a:t>2420030231</a:t>
                      </a:r>
                    </a:p>
                  </a:txBody>
                  <a:tcPr/>
                </a:tc>
                <a:tc>
                  <a:txBody>
                    <a:bodyPr/>
                    <a:lstStyle/>
                    <a:p>
                      <a:r>
                        <a:rPr lang="en-US" dirty="0"/>
                        <a:t>S</a:t>
                      </a:r>
                      <a:r>
                        <a:rPr lang="en-IN" dirty="0" err="1"/>
                        <a:t>neha</a:t>
                      </a:r>
                      <a:r>
                        <a:rPr lang="en-IN" dirty="0"/>
                        <a:t> </a:t>
                      </a:r>
                      <a:r>
                        <a:rPr lang="en-IN" dirty="0" err="1"/>
                        <a:t>Bomma</a:t>
                      </a:r>
                      <a:endParaRPr lang="en-IN" dirty="0"/>
                    </a:p>
                  </a:txBody>
                  <a:tcPr/>
                </a:tc>
                <a:extLst>
                  <a:ext uri="{0D108BD9-81ED-4DB2-BD59-A6C34878D82A}">
                    <a16:rowId xmlns:a16="http://schemas.microsoft.com/office/drawing/2014/main" val="1253180226"/>
                  </a:ext>
                </a:extLst>
              </a:tr>
              <a:tr h="370840">
                <a:tc>
                  <a:txBody>
                    <a:bodyPr/>
                    <a:lstStyle/>
                    <a:p>
                      <a:r>
                        <a:rPr lang="en-IN" dirty="0"/>
                        <a:t>2420030233</a:t>
                      </a:r>
                    </a:p>
                  </a:txBody>
                  <a:tcPr/>
                </a:tc>
                <a:tc>
                  <a:txBody>
                    <a:bodyPr/>
                    <a:lstStyle/>
                    <a:p>
                      <a:r>
                        <a:rPr lang="en-US" dirty="0"/>
                        <a:t>Kola </a:t>
                      </a:r>
                      <a:r>
                        <a:rPr lang="en-IN" dirty="0"/>
                        <a:t>Hitheshini</a:t>
                      </a:r>
                    </a:p>
                  </a:txBody>
                  <a:tcPr/>
                </a:tc>
                <a:extLst>
                  <a:ext uri="{0D108BD9-81ED-4DB2-BD59-A6C34878D82A}">
                    <a16:rowId xmlns:a16="http://schemas.microsoft.com/office/drawing/2014/main" val="3808905902"/>
                  </a:ext>
                </a:extLst>
              </a:tr>
              <a:tr h="370840">
                <a:tc>
                  <a:txBody>
                    <a:bodyPr/>
                    <a:lstStyle/>
                    <a:p>
                      <a:r>
                        <a:rPr lang="en-IN" dirty="0"/>
                        <a:t>2420030445</a:t>
                      </a:r>
                    </a:p>
                  </a:txBody>
                  <a:tcPr/>
                </a:tc>
                <a:tc>
                  <a:txBody>
                    <a:bodyPr/>
                    <a:lstStyle/>
                    <a:p>
                      <a:r>
                        <a:rPr lang="en-IN" dirty="0"/>
                        <a:t>Lalitha </a:t>
                      </a:r>
                      <a:r>
                        <a:rPr lang="en-IN" dirty="0" err="1"/>
                        <a:t>mahisri</a:t>
                      </a:r>
                      <a:r>
                        <a:rPr lang="en-IN" dirty="0"/>
                        <a:t> </a:t>
                      </a:r>
                      <a:r>
                        <a:rPr lang="en-IN" dirty="0" err="1"/>
                        <a:t>Mallepudi</a:t>
                      </a:r>
                      <a:endParaRPr lang="en-IN" dirty="0"/>
                    </a:p>
                  </a:txBody>
                  <a:tcPr/>
                </a:tc>
                <a:extLst>
                  <a:ext uri="{0D108BD9-81ED-4DB2-BD59-A6C34878D82A}">
                    <a16:rowId xmlns:a16="http://schemas.microsoft.com/office/drawing/2014/main" val="273990523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0CC01-F0B4-FE2F-F9A2-13400E54CB22}"/>
              </a:ext>
            </a:extLst>
          </p:cNvPr>
          <p:cNvSpPr>
            <a:spLocks noGrp="1"/>
          </p:cNvSpPr>
          <p:nvPr>
            <p:ph type="title"/>
          </p:nvPr>
        </p:nvSpPr>
        <p:spPr/>
        <p:txBody>
          <a:bodyPr>
            <a:normAutofit/>
          </a:bodyPr>
          <a:lstStyle/>
          <a:p>
            <a:pPr>
              <a:defRPr sz="2800">
                <a:latin typeface="Times New Roman"/>
              </a:defRPr>
            </a:pPr>
            <a:r>
              <a:t>Introduction</a:t>
            </a:r>
            <a:endParaRPr lang="en-IN" sz="2800" dirty="0"/>
          </a:p>
        </p:txBody>
      </p:sp>
      <p:sp>
        <p:nvSpPr>
          <p:cNvPr id="3" name="Content Placeholder 2">
            <a:extLst>
              <a:ext uri="{FF2B5EF4-FFF2-40B4-BE49-F238E27FC236}">
                <a16:creationId xmlns:a16="http://schemas.microsoft.com/office/drawing/2014/main" id="{4FC14565-552C-A8D2-68D2-7F6C251AF38F}"/>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t>Handwritten text recognition is an important application of deep learning and computer vision that enables computers to recognize and convert handwritten characters into digital text. It helps automate the analysis of handwritten information and reduces the need for manual text entry.</a:t>
            </a:r>
          </a:p>
          <a:p>
            <a:pPr>
              <a:lnSpc>
                <a:spcPct val="115000"/>
              </a:lnSpc>
              <a:spcAft>
                <a:spcPts val="1000"/>
              </a:spcAft>
              <a:defRPr sz="1800">
                <a:latin typeface="Times New Roman"/>
              </a:defRPr>
            </a:pPr>
            <a:r>
              <a:t>This project focuses on developing a deep learning model using the EMNIST dataset, which contains handwritten letters and digits. A Convolutional Neural Network (CNN) learns visual patterns such as strokes, edges, shapes, and character structures to classify handwritten characters.</a:t>
            </a:r>
          </a:p>
        </p:txBody>
      </p:sp>
      <p:sp>
        <p:nvSpPr>
          <p:cNvPr id="4" name="Date Placeholder 3">
            <a:extLst>
              <a:ext uri="{FF2B5EF4-FFF2-40B4-BE49-F238E27FC236}">
                <a16:creationId xmlns:a16="http://schemas.microsoft.com/office/drawing/2014/main" id="{FF343DB4-9070-915F-D92E-CA85B120FFB2}"/>
              </a:ext>
            </a:extLst>
          </p:cNvPr>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a:extLst>
              <a:ext uri="{FF2B5EF4-FFF2-40B4-BE49-F238E27FC236}">
                <a16:creationId xmlns:a16="http://schemas.microsoft.com/office/drawing/2014/main" id="{13D480CC-FE3F-F0BD-B22B-2715C7C8092F}"/>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36ABB6FF-C19E-FF91-E008-4C075D96785E}"/>
              </a:ext>
            </a:extLst>
          </p:cNvPr>
          <p:cNvSpPr>
            <a:spLocks noGrp="1"/>
          </p:cNvSpPr>
          <p:nvPr>
            <p:ph type="sldNum" sz="quarter" idx="12"/>
          </p:nvPr>
        </p:nvSpPr>
        <p:spPr/>
        <p:txBody>
          <a:bodyPr/>
          <a:lstStyle/>
          <a:p>
            <a:fld id="{D6396F81-1074-6B40-A92F-A06CCD3B4178}" type="slidenum">
              <a:rPr lang="en-US" smtClean="0"/>
              <a:t>2</a:t>
            </a:fld>
            <a:endParaRPr lang="en-US"/>
          </a:p>
        </p:txBody>
      </p:sp>
    </p:spTree>
    <p:extLst>
      <p:ext uri="{BB962C8B-B14F-4D97-AF65-F5344CB8AC3E}">
        <p14:creationId xmlns:p14="http://schemas.microsoft.com/office/powerpoint/2010/main" val="3636319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13B8D-5684-35DF-238E-FCE1FB06DFE3}"/>
              </a:ext>
            </a:extLst>
          </p:cNvPr>
          <p:cNvSpPr>
            <a:spLocks noGrp="1"/>
          </p:cNvSpPr>
          <p:nvPr>
            <p:ph type="title"/>
          </p:nvPr>
        </p:nvSpPr>
        <p:spPr/>
        <p:txBody>
          <a:bodyPr>
            <a:normAutofit/>
          </a:bodyPr>
          <a:lstStyle/>
          <a:p>
            <a:pPr>
              <a:defRPr sz="2800">
                <a:latin typeface="Times New Roman"/>
              </a:defRPr>
            </a:pPr>
            <a:r>
              <a:t>Problem Statement</a:t>
            </a:r>
            <a:endParaRPr lang="en-IN" sz="2800" dirty="0"/>
          </a:p>
        </p:txBody>
      </p:sp>
      <p:sp>
        <p:nvSpPr>
          <p:cNvPr id="3" name="Content Placeholder 2">
            <a:extLst>
              <a:ext uri="{FF2B5EF4-FFF2-40B4-BE49-F238E27FC236}">
                <a16:creationId xmlns:a16="http://schemas.microsoft.com/office/drawing/2014/main" id="{48FD2F70-5522-7C9A-769C-B4766EBBE7DF}"/>
              </a:ext>
            </a:extLst>
          </p:cNvPr>
          <p:cNvSpPr>
            <a:spLocks noGrp="1"/>
          </p:cNvSpPr>
          <p:nvPr>
            <p:ph idx="1"/>
          </p:nvPr>
        </p:nvSpPr>
        <p:spPr>
          <a:xfrm>
            <a:off x="1654277" y="1543204"/>
            <a:ext cx="8699090" cy="4486275"/>
          </a:xfrm>
        </p:spPr>
        <p:txBody>
          <a:bodyPr wrap="square">
            <a:normAutofit/>
          </a:bodyPr>
          <a:lstStyle/>
          <a:p>
            <a:pPr>
              <a:lnSpc>
                <a:spcPct val="115000"/>
              </a:lnSpc>
              <a:spcAft>
                <a:spcPts val="1000"/>
              </a:spcAft>
              <a:defRPr sz="1800">
                <a:latin typeface="Times New Roman"/>
              </a:defRPr>
            </a:pPr>
            <a:r>
              <a:t>Handwritten characters can vary significantly in their strokes, shapes, size, and writing style, making automatic recognition a challenging task. Converting handwritten information into digital text manually can also be time-consuming when large amounts of data are involved.</a:t>
            </a:r>
          </a:p>
          <a:p>
            <a:pPr>
              <a:lnSpc>
                <a:spcPct val="115000"/>
              </a:lnSpc>
              <a:spcAft>
                <a:spcPts val="1000"/>
              </a:spcAft>
              <a:defRPr sz="1800">
                <a:latin typeface="Times New Roman"/>
              </a:defRPr>
            </a:pPr>
            <a:r>
              <a:t>Therefore, there is a need for an automated system that can recognize handwritten characters accurately and convert them into digital text. This project proposes a CNN-based deep learning model trained on EMNIST to perform handwritten character recognition.</a:t>
            </a:r>
          </a:p>
        </p:txBody>
      </p:sp>
      <p:sp>
        <p:nvSpPr>
          <p:cNvPr id="4" name="Date Placeholder 3">
            <a:extLst>
              <a:ext uri="{FF2B5EF4-FFF2-40B4-BE49-F238E27FC236}">
                <a16:creationId xmlns:a16="http://schemas.microsoft.com/office/drawing/2014/main" id="{0CCC4711-95BD-6A46-0615-728A2D694F0F}"/>
              </a:ext>
            </a:extLst>
          </p:cNvPr>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a:extLst>
              <a:ext uri="{FF2B5EF4-FFF2-40B4-BE49-F238E27FC236}">
                <a16:creationId xmlns:a16="http://schemas.microsoft.com/office/drawing/2014/main" id="{7A7ADE86-514C-9111-E64C-3539121F0BA7}"/>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6271CAE2-77F4-F451-C384-43187338D3BF}"/>
              </a:ext>
            </a:extLst>
          </p:cNvPr>
          <p:cNvSpPr>
            <a:spLocks noGrp="1"/>
          </p:cNvSpPr>
          <p:nvPr>
            <p:ph type="sldNum" sz="quarter" idx="12"/>
          </p:nvPr>
        </p:nvSpPr>
        <p:spPr/>
        <p:txBody>
          <a:bodyPr/>
          <a:lstStyle/>
          <a:p>
            <a:fld id="{D6396F81-1074-6B40-A92F-A06CCD3B4178}" type="slidenum">
              <a:rPr lang="en-US" smtClean="0"/>
              <a:t>3</a:t>
            </a:fld>
            <a:endParaRPr lang="en-US"/>
          </a:p>
        </p:txBody>
      </p:sp>
    </p:spTree>
    <p:extLst>
      <p:ext uri="{BB962C8B-B14F-4D97-AF65-F5344CB8AC3E}">
        <p14:creationId xmlns:p14="http://schemas.microsoft.com/office/powerpoint/2010/main" val="75556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F33B-BA7F-E7DA-361B-2712F45ECBC8}"/>
              </a:ext>
            </a:extLst>
          </p:cNvPr>
          <p:cNvSpPr>
            <a:spLocks noGrp="1"/>
          </p:cNvSpPr>
          <p:nvPr>
            <p:ph type="title"/>
          </p:nvPr>
        </p:nvSpPr>
        <p:spPr/>
        <p:txBody>
          <a:bodyPr>
            <a:normAutofit/>
          </a:bodyPr>
          <a:lstStyle/>
          <a:p>
            <a:pPr>
              <a:defRPr sz="2800">
                <a:latin typeface="Times New Roman"/>
              </a:defRPr>
            </a:pPr>
            <a:r>
              <a:t>Objectives</a:t>
            </a:r>
          </a:p>
        </p:txBody>
      </p:sp>
      <p:sp>
        <p:nvSpPr>
          <p:cNvPr id="3" name="Content Placeholder 2">
            <a:extLst>
              <a:ext uri="{FF2B5EF4-FFF2-40B4-BE49-F238E27FC236}">
                <a16:creationId xmlns:a16="http://schemas.microsoft.com/office/drawing/2014/main" id="{2AC4B96D-4179-D722-EC18-12AAA3FE48CA}"/>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t>The primary objective of this project is to develop a deep learning-based system for recognizing handwritten characters using the EMNIST dataset. The model is designed to learn important visual patterns from labelled handwritten character images.</a:t>
            </a:r>
          </a:p>
          <a:p>
            <a:pPr>
              <a:lnSpc>
                <a:spcPct val="115000"/>
              </a:lnSpc>
              <a:spcAft>
                <a:spcPts val="1000"/>
              </a:spcAft>
              <a:defRPr sz="1800">
                <a:latin typeface="Times New Roman"/>
              </a:defRPr>
            </a:pPr>
            <a:r>
              <a:t>The project aims to perform data preprocessing and image normalization, develop and train a CNN, validate the model, and evaluate its performance using accuracy, loss, precision, recall, and confusion matrix. The trained model is then used to recognize handwritten characters and convert them into digital text.</a:t>
            </a:r>
          </a:p>
        </p:txBody>
      </p:sp>
      <p:sp>
        <p:nvSpPr>
          <p:cNvPr id="4" name="Date Placeholder 3">
            <a:extLst>
              <a:ext uri="{FF2B5EF4-FFF2-40B4-BE49-F238E27FC236}">
                <a16:creationId xmlns:a16="http://schemas.microsoft.com/office/drawing/2014/main" id="{8BB893BD-9F0C-57C7-A687-4E32A8106FFF}"/>
              </a:ext>
            </a:extLst>
          </p:cNvPr>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a:extLst>
              <a:ext uri="{FF2B5EF4-FFF2-40B4-BE49-F238E27FC236}">
                <a16:creationId xmlns:a16="http://schemas.microsoft.com/office/drawing/2014/main" id="{8467CD06-BAB3-04E4-10E5-68377442241D}"/>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A9509879-1EC7-A2E6-6EFD-BB7CD900A901}"/>
              </a:ext>
            </a:extLst>
          </p:cNvPr>
          <p:cNvSpPr>
            <a:spLocks noGrp="1"/>
          </p:cNvSpPr>
          <p:nvPr>
            <p:ph type="sldNum" sz="quarter" idx="12"/>
          </p:nvPr>
        </p:nvSpPr>
        <p:spPr/>
        <p:txBody>
          <a:bodyPr/>
          <a:lstStyle/>
          <a:p>
            <a:fld id="{D6396F81-1074-6B40-A92F-A06CCD3B4178}" type="slidenum">
              <a:rPr lang="en-US" smtClean="0"/>
              <a:t>4</a:t>
            </a:fld>
            <a:endParaRPr lang="en-US"/>
          </a:p>
        </p:txBody>
      </p:sp>
    </p:spTree>
    <p:extLst>
      <p:ext uri="{BB962C8B-B14F-4D97-AF65-F5344CB8AC3E}">
        <p14:creationId xmlns:p14="http://schemas.microsoft.com/office/powerpoint/2010/main" val="2508537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0677B-09E5-19A0-B4A1-9862DCD2E429}"/>
              </a:ext>
            </a:extLst>
          </p:cNvPr>
          <p:cNvSpPr>
            <a:spLocks noGrp="1"/>
          </p:cNvSpPr>
          <p:nvPr>
            <p:ph type="title"/>
          </p:nvPr>
        </p:nvSpPr>
        <p:spPr/>
        <p:txBody>
          <a:bodyPr/>
          <a:lstStyle/>
          <a:p>
            <a:pPr>
              <a:defRPr sz="2800">
                <a:latin typeface="Times New Roman"/>
              </a:defRPr>
            </a:pPr>
            <a:r>
              <a:t>Literature Survey</a:t>
            </a:r>
            <a:endParaRPr lang="en-IN" dirty="0"/>
          </a:p>
        </p:txBody>
      </p:sp>
      <p:sp>
        <p:nvSpPr>
          <p:cNvPr id="3" name="Content Placeholder 2">
            <a:extLst>
              <a:ext uri="{FF2B5EF4-FFF2-40B4-BE49-F238E27FC236}">
                <a16:creationId xmlns:a16="http://schemas.microsoft.com/office/drawing/2014/main" id="{02B11FBD-982D-2F72-AE6D-4AE0878D265B}"/>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t>Handwritten character recognition has been explored using traditional machine learning and neural network techniques. Earlier approaches often depended on manually designed features to represent strokes, edges, and shapes before performing classification.</a:t>
            </a:r>
          </a:p>
          <a:p>
            <a:pPr>
              <a:lnSpc>
                <a:spcPct val="115000"/>
              </a:lnSpc>
              <a:spcAft>
                <a:spcPts val="1000"/>
              </a:spcAft>
              <a:defRPr sz="1800">
                <a:latin typeface="Times New Roman"/>
              </a:defRPr>
            </a:pPr>
            <a:r>
              <a:t>Deep learning approaches, particularly Convolutional Neural Networks (CNNs), can automatically extract relevant features from handwritten images. CNN-based methods are therefore well suited for learning character structures and classifying handwritten letters and digits.</a:t>
            </a:r>
          </a:p>
        </p:txBody>
      </p:sp>
      <p:sp>
        <p:nvSpPr>
          <p:cNvPr id="4" name="Date Placeholder 3">
            <a:extLst>
              <a:ext uri="{FF2B5EF4-FFF2-40B4-BE49-F238E27FC236}">
                <a16:creationId xmlns:a16="http://schemas.microsoft.com/office/drawing/2014/main" id="{63E839C9-A045-6C58-54D8-BEDE9B19C23E}"/>
              </a:ext>
            </a:extLst>
          </p:cNvPr>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a:extLst>
              <a:ext uri="{FF2B5EF4-FFF2-40B4-BE49-F238E27FC236}">
                <a16:creationId xmlns:a16="http://schemas.microsoft.com/office/drawing/2014/main" id="{70FB35B9-CF32-F85D-3869-0576CB81F3F4}"/>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BAC51174-5875-311D-680E-B5059040D4EA}"/>
              </a:ext>
            </a:extLst>
          </p:cNvPr>
          <p:cNvSpPr>
            <a:spLocks noGrp="1"/>
          </p:cNvSpPr>
          <p:nvPr>
            <p:ph type="sldNum" sz="quarter" idx="12"/>
          </p:nvPr>
        </p:nvSpPr>
        <p:spPr/>
        <p:txBody>
          <a:bodyPr/>
          <a:lstStyle/>
          <a:p>
            <a:fld id="{D6396F81-1074-6B40-A92F-A06CCD3B4178}" type="slidenum">
              <a:rPr lang="en-US" smtClean="0"/>
              <a:t>5</a:t>
            </a:fld>
            <a:endParaRPr lang="en-US"/>
          </a:p>
        </p:txBody>
      </p:sp>
    </p:spTree>
    <p:extLst>
      <p:ext uri="{BB962C8B-B14F-4D97-AF65-F5344CB8AC3E}">
        <p14:creationId xmlns:p14="http://schemas.microsoft.com/office/powerpoint/2010/main" val="3215469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4A4C3-F757-24A8-5107-3DEFEB143E53}"/>
              </a:ext>
            </a:extLst>
          </p:cNvPr>
          <p:cNvSpPr>
            <a:spLocks noGrp="1"/>
          </p:cNvSpPr>
          <p:nvPr>
            <p:ph type="title"/>
          </p:nvPr>
        </p:nvSpPr>
        <p:spPr/>
        <p:txBody>
          <a:bodyPr/>
          <a:lstStyle/>
          <a:p>
            <a:pPr>
              <a:defRPr sz="2800">
                <a:latin typeface="Times New Roman"/>
              </a:defRPr>
            </a:pPr>
            <a:r>
              <a:t>Literature Gap</a:t>
            </a:r>
            <a:endParaRPr lang="en-IN" dirty="0"/>
          </a:p>
        </p:txBody>
      </p:sp>
      <p:sp>
        <p:nvSpPr>
          <p:cNvPr id="3" name="Content Placeholder 2">
            <a:extLst>
              <a:ext uri="{FF2B5EF4-FFF2-40B4-BE49-F238E27FC236}">
                <a16:creationId xmlns:a16="http://schemas.microsoft.com/office/drawing/2014/main" id="{4359CA2A-8F55-6560-CD07-3EEC1A650793}"/>
              </a:ext>
            </a:extLst>
          </p:cNvPr>
          <p:cNvSpPr>
            <a:spLocks noGrp="1"/>
          </p:cNvSpPr>
          <p:nvPr>
            <p:ph idx="1"/>
          </p:nvPr>
        </p:nvSpPr>
        <p:spPr/>
        <p:txBody>
          <a:bodyPr wrap="square">
            <a:normAutofit/>
          </a:bodyPr>
          <a:lstStyle/>
          <a:p>
            <a:pPr>
              <a:lnSpc>
                <a:spcPct val="115000"/>
              </a:lnSpc>
              <a:spcAft>
                <a:spcPts val="1000"/>
              </a:spcAft>
              <a:defRPr sz="1700">
                <a:latin typeface="Times New Roman"/>
              </a:defRPr>
            </a:pPr>
            <a:r>
              <a:t>Existing handwritten character recognition approaches demonstrate the effectiveness of machine learning and deep learning techniques, but a complete and simple workflow from image preprocessing to digital text conversion is not always presented as a single system.</a:t>
            </a:r>
          </a:p>
          <a:p>
            <a:pPr>
              <a:lnSpc>
                <a:spcPct val="115000"/>
              </a:lnSpc>
              <a:spcAft>
                <a:spcPts val="1000"/>
              </a:spcAft>
              <a:defRPr sz="1700">
                <a:latin typeface="Times New Roman"/>
              </a:defRPr>
            </a:pPr>
            <a:r>
              <a:t>This project focuses on integrating preprocessing, image normalization, CNN-based feature extraction, training, validation, performance evaluation, and character prediction into one basic handwritten text recognition pipeline.</a:t>
            </a:r>
          </a:p>
        </p:txBody>
      </p:sp>
      <p:sp>
        <p:nvSpPr>
          <p:cNvPr id="4" name="Date Placeholder 3">
            <a:extLst>
              <a:ext uri="{FF2B5EF4-FFF2-40B4-BE49-F238E27FC236}">
                <a16:creationId xmlns:a16="http://schemas.microsoft.com/office/drawing/2014/main" id="{760B245B-EB6C-4A59-A9D2-7966B1060F66}"/>
              </a:ext>
            </a:extLst>
          </p:cNvPr>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a:extLst>
              <a:ext uri="{FF2B5EF4-FFF2-40B4-BE49-F238E27FC236}">
                <a16:creationId xmlns:a16="http://schemas.microsoft.com/office/drawing/2014/main" id="{C116D29F-8812-CACD-BF17-E9CFC46B3D9E}"/>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79C8C2F3-3AA4-9C07-FE28-B8C63ECADCDD}"/>
              </a:ext>
            </a:extLst>
          </p:cNvPr>
          <p:cNvSpPr>
            <a:spLocks noGrp="1"/>
          </p:cNvSpPr>
          <p:nvPr>
            <p:ph type="sldNum" sz="quarter" idx="12"/>
          </p:nvPr>
        </p:nvSpPr>
        <p:spPr/>
        <p:txBody>
          <a:bodyPr/>
          <a:lstStyle/>
          <a:p>
            <a:fld id="{D6396F81-1074-6B40-A92F-A06CCD3B4178}" type="slidenum">
              <a:rPr lang="en-US" smtClean="0"/>
              <a:t>6</a:t>
            </a:fld>
            <a:endParaRPr lang="en-US"/>
          </a:p>
        </p:txBody>
      </p:sp>
    </p:spTree>
    <p:extLst>
      <p:ext uri="{BB962C8B-B14F-4D97-AF65-F5344CB8AC3E}">
        <p14:creationId xmlns:p14="http://schemas.microsoft.com/office/powerpoint/2010/main" val="4123733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4FAA8-2A4F-2E0C-5F6C-39DD1F5BE094}"/>
              </a:ext>
            </a:extLst>
          </p:cNvPr>
          <p:cNvSpPr>
            <a:spLocks noGrp="1"/>
          </p:cNvSpPr>
          <p:nvPr>
            <p:ph type="title"/>
          </p:nvPr>
        </p:nvSpPr>
        <p:spPr/>
        <p:txBody>
          <a:bodyPr>
            <a:normAutofit/>
          </a:bodyPr>
          <a:lstStyle/>
          <a:p>
            <a:pPr>
              <a:defRPr sz="2800">
                <a:latin typeface="Times New Roman"/>
              </a:defRPr>
            </a:pPr>
            <a:r>
              <a:t>Flow of the Project</a:t>
            </a:r>
          </a:p>
        </p:txBody>
      </p:sp>
      <p:sp>
        <p:nvSpPr>
          <p:cNvPr id="3" name="Content Placeholder 2">
            <a:extLst>
              <a:ext uri="{FF2B5EF4-FFF2-40B4-BE49-F238E27FC236}">
                <a16:creationId xmlns:a16="http://schemas.microsoft.com/office/drawing/2014/main" id="{292FC377-C3F0-C1AB-AB1B-99D980FEF3DF}"/>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t>The project begins with loading the EMNIST dataset containing labelled handwritten letters and digits. The character images are preprocessed and normalized before being provided to the CNN model, which automatically extracts relevant visual features such as strokes, edges, and shapes.</a:t>
            </a:r>
          </a:p>
          <a:p>
            <a:pPr>
              <a:lnSpc>
                <a:spcPct val="115000"/>
              </a:lnSpc>
              <a:spcAft>
                <a:spcPts val="1000"/>
              </a:spcAft>
              <a:defRPr sz="1800">
                <a:latin typeface="Times New Roman"/>
              </a:defRPr>
            </a:pPr>
            <a:r>
              <a:t>The model is then trained and validated, followed by performance evaluation using accuracy, loss, precision, recall, and confusion matrix. Finally, the trained model processes handwritten character images, predicts the recognized characters, and converts them into digital text.</a:t>
            </a:r>
          </a:p>
        </p:txBody>
      </p:sp>
      <p:sp>
        <p:nvSpPr>
          <p:cNvPr id="4" name="Date Placeholder 3">
            <a:extLst>
              <a:ext uri="{FF2B5EF4-FFF2-40B4-BE49-F238E27FC236}">
                <a16:creationId xmlns:a16="http://schemas.microsoft.com/office/drawing/2014/main" id="{F34A5DB4-DD68-EE4F-9D82-996625E4D33B}"/>
              </a:ext>
            </a:extLst>
          </p:cNvPr>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a:extLst>
              <a:ext uri="{FF2B5EF4-FFF2-40B4-BE49-F238E27FC236}">
                <a16:creationId xmlns:a16="http://schemas.microsoft.com/office/drawing/2014/main" id="{C31F4996-F212-0016-7609-E66425045CF9}"/>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01C1552C-C81D-3271-AA3C-3C9BC4EC5927}"/>
              </a:ext>
            </a:extLst>
          </p:cNvPr>
          <p:cNvSpPr>
            <a:spLocks noGrp="1"/>
          </p:cNvSpPr>
          <p:nvPr>
            <p:ph type="sldNum" sz="quarter" idx="12"/>
          </p:nvPr>
        </p:nvSpPr>
        <p:spPr/>
        <p:txBody>
          <a:bodyPr/>
          <a:lstStyle/>
          <a:p>
            <a:fld id="{D6396F81-1074-6B40-A92F-A06CCD3B4178}" type="slidenum">
              <a:rPr lang="en-US" smtClean="0"/>
              <a:t>7</a:t>
            </a:fld>
            <a:endParaRPr lang="en-US"/>
          </a:p>
        </p:txBody>
      </p:sp>
    </p:spTree>
    <p:extLst>
      <p:ext uri="{BB962C8B-B14F-4D97-AF65-F5344CB8AC3E}">
        <p14:creationId xmlns:p14="http://schemas.microsoft.com/office/powerpoint/2010/main" val="3426967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5110C-90E2-86AF-4736-539AD05078AE}"/>
              </a:ext>
            </a:extLst>
          </p:cNvPr>
          <p:cNvSpPr>
            <a:spLocks noGrp="1"/>
          </p:cNvSpPr>
          <p:nvPr>
            <p:ph type="title"/>
          </p:nvPr>
        </p:nvSpPr>
        <p:spPr/>
        <p:txBody>
          <a:bodyPr>
            <a:normAutofit/>
          </a:bodyPr>
          <a:lstStyle/>
          <a:p>
            <a:pPr>
              <a:defRPr sz="2800">
                <a:latin typeface="Times New Roman"/>
              </a:defRPr>
            </a:pPr>
            <a:r>
              <a:t>Software and Hardware Tools</a:t>
            </a:r>
          </a:p>
        </p:txBody>
      </p:sp>
      <p:sp>
        <p:nvSpPr>
          <p:cNvPr id="3" name="Content Placeholder 2">
            <a:extLst>
              <a:ext uri="{FF2B5EF4-FFF2-40B4-BE49-F238E27FC236}">
                <a16:creationId xmlns:a16="http://schemas.microsoft.com/office/drawing/2014/main" id="{6EA404C7-89CA-0B11-9049-4670E3632F79}"/>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rPr dirty="0"/>
              <a:t>The project can be implemented using Python with TensorFlow/</a:t>
            </a:r>
            <a:r>
              <a:rPr dirty="0" err="1"/>
              <a:t>Keras</a:t>
            </a:r>
            <a:r>
              <a:rPr dirty="0"/>
              <a:t> for developing and training the CNN, NumPy for numerical operations, Matplotlib for visualization, and Scikit-learn for performance evaluation. Google </a:t>
            </a:r>
            <a:r>
              <a:rPr dirty="0" err="1"/>
              <a:t>Colab</a:t>
            </a:r>
            <a:r>
              <a:rPr dirty="0"/>
              <a:t> or Jupyter Notebook can be used as the development environment.</a:t>
            </a:r>
          </a:p>
          <a:p>
            <a:pPr>
              <a:lnSpc>
                <a:spcPct val="115000"/>
              </a:lnSpc>
              <a:spcAft>
                <a:spcPts val="1000"/>
              </a:spcAft>
              <a:defRPr sz="1800">
                <a:latin typeface="Times New Roman"/>
              </a:defRPr>
            </a:pPr>
            <a:r>
              <a:rPr dirty="0"/>
              <a:t>A standard computer with an Intel Core i3/i5 or equivalent processor, at least 4 GB RAM, and sufficient storage is suitable for development. A GPU is optional and can be used to accelerate model training.</a:t>
            </a:r>
          </a:p>
        </p:txBody>
      </p:sp>
      <p:sp>
        <p:nvSpPr>
          <p:cNvPr id="4" name="Date Placeholder 3">
            <a:extLst>
              <a:ext uri="{FF2B5EF4-FFF2-40B4-BE49-F238E27FC236}">
                <a16:creationId xmlns:a16="http://schemas.microsoft.com/office/drawing/2014/main" id="{6849DB6D-A7BC-C778-9CF7-44E24BC4A553}"/>
              </a:ext>
            </a:extLst>
          </p:cNvPr>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a:extLst>
              <a:ext uri="{FF2B5EF4-FFF2-40B4-BE49-F238E27FC236}">
                <a16:creationId xmlns:a16="http://schemas.microsoft.com/office/drawing/2014/main" id="{9EF729B4-C949-BD97-7CA1-31C26A391FBE}"/>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8A017772-B708-602E-9589-A03DB708537D}"/>
              </a:ext>
            </a:extLst>
          </p:cNvPr>
          <p:cNvSpPr>
            <a:spLocks noGrp="1"/>
          </p:cNvSpPr>
          <p:nvPr>
            <p:ph type="sldNum" sz="quarter" idx="12"/>
          </p:nvPr>
        </p:nvSpPr>
        <p:spPr/>
        <p:txBody>
          <a:bodyPr/>
          <a:lstStyle/>
          <a:p>
            <a:fld id="{D6396F81-1074-6B40-A92F-A06CCD3B4178}" type="slidenum">
              <a:rPr lang="en-US" smtClean="0"/>
              <a:t>8</a:t>
            </a:fld>
            <a:endParaRPr lang="en-US"/>
          </a:p>
        </p:txBody>
      </p:sp>
    </p:spTree>
    <p:extLst>
      <p:ext uri="{BB962C8B-B14F-4D97-AF65-F5344CB8AC3E}">
        <p14:creationId xmlns:p14="http://schemas.microsoft.com/office/powerpoint/2010/main" val="2464446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640080" y="411480"/>
            <a:ext cx="7400167" cy="523220"/>
          </a:xfrm>
          <a:prstGeom prst="rect">
            <a:avLst/>
          </a:prstGeom>
          <a:noFill/>
        </p:spPr>
        <p:txBody>
          <a:bodyPr wrap="none">
            <a:spAutoFit/>
          </a:bodyPr>
          <a:lstStyle/>
          <a:p>
            <a:pPr>
              <a:defRPr sz="2800" b="1">
                <a:solidFill>
                  <a:srgbClr val="1F6F97"/>
                </a:solidFill>
              </a:defRPr>
            </a:pPr>
            <a:r>
              <a:rPr dirty="0">
                <a:solidFill>
                  <a:schemeClr val="tx1">
                    <a:lumMod val="95000"/>
                    <a:lumOff val="5000"/>
                  </a:schemeClr>
                </a:solidFill>
              </a:rPr>
              <a:t>Microsoft </a:t>
            </a:r>
            <a:r>
              <a:rPr dirty="0" err="1">
                <a:solidFill>
                  <a:schemeClr val="tx1">
                    <a:lumMod val="95000"/>
                    <a:lumOff val="5000"/>
                  </a:schemeClr>
                </a:solidFill>
              </a:rPr>
              <a:t>TrOCR</a:t>
            </a:r>
            <a:r>
              <a:rPr dirty="0">
                <a:solidFill>
                  <a:schemeClr val="tx1">
                    <a:lumMod val="95000"/>
                    <a:lumOff val="5000"/>
                  </a:schemeClr>
                </a:solidFill>
              </a:rPr>
              <a:t> for Handwritten Text Extraction</a:t>
            </a:r>
          </a:p>
        </p:txBody>
      </p:sp>
      <p:sp>
        <p:nvSpPr>
          <p:cNvPr id="5" name="TextBox 4"/>
          <p:cNvSpPr txBox="1"/>
          <p:nvPr/>
        </p:nvSpPr>
        <p:spPr>
          <a:xfrm>
            <a:off x="975360" y="1234440"/>
            <a:ext cx="10241280" cy="4389120"/>
          </a:xfrm>
          <a:prstGeom prst="rect">
            <a:avLst/>
          </a:prstGeom>
          <a:noFill/>
        </p:spPr>
        <p:txBody>
          <a:bodyPr wrap="square">
            <a:spAutoFit/>
          </a:bodyPr>
          <a:lstStyle/>
          <a:p>
            <a:pPr>
              <a:spcAft>
                <a:spcPts val="1400"/>
              </a:spcAft>
              <a:defRPr sz="2100">
                <a:solidFill>
                  <a:srgbClr val="282828"/>
                </a:solidFill>
              </a:defRPr>
            </a:pPr>
            <a:r>
              <a:rPr dirty="0"/>
              <a:t>• Used Microsoft </a:t>
            </a:r>
            <a:r>
              <a:rPr dirty="0" err="1"/>
              <a:t>TrOCR</a:t>
            </a:r>
            <a:r>
              <a:rPr dirty="0"/>
              <a:t> for handwritten word and text extraction.</a:t>
            </a:r>
          </a:p>
          <a:p>
            <a:pPr>
              <a:spcAft>
                <a:spcPts val="1400"/>
              </a:spcAft>
              <a:defRPr sz="2100">
                <a:solidFill>
                  <a:srgbClr val="282828"/>
                </a:solidFill>
              </a:defRPr>
            </a:pPr>
            <a:r>
              <a:rPr dirty="0"/>
              <a:t>• Uses a Vision Encoder–Decoder Transformer model.</a:t>
            </a:r>
          </a:p>
          <a:p>
            <a:pPr>
              <a:spcAft>
                <a:spcPts val="1400"/>
              </a:spcAft>
              <a:defRPr sz="2100">
                <a:solidFill>
                  <a:srgbClr val="282828"/>
                </a:solidFill>
              </a:defRPr>
            </a:pPr>
            <a:r>
              <a:rPr dirty="0"/>
              <a:t>• Extracts complete text sequences instead of single characters.</a:t>
            </a:r>
          </a:p>
          <a:p>
            <a:pPr>
              <a:spcAft>
                <a:spcPts val="1400"/>
              </a:spcAft>
              <a:defRPr sz="2100">
                <a:solidFill>
                  <a:srgbClr val="282828"/>
                </a:solidFill>
              </a:defRPr>
            </a:pPr>
            <a:r>
              <a:rPr dirty="0"/>
              <a:t>• Improves word ordering and continuous handwriting recognition.</a:t>
            </a:r>
          </a:p>
          <a:p>
            <a:pPr>
              <a:spcAft>
                <a:spcPts val="1400"/>
              </a:spcAft>
              <a:defRPr sz="2100">
                <a:solidFill>
                  <a:srgbClr val="282828"/>
                </a:solidFill>
              </a:defRPr>
            </a:pPr>
            <a:r>
              <a:rPr dirty="0"/>
              <a:t>• Integrated with EMNIST CNN for improved text recognition.</a:t>
            </a:r>
          </a:p>
          <a:p>
            <a:pPr>
              <a:spcAft>
                <a:spcPts val="1400"/>
              </a:spcAft>
              <a:defRPr sz="2100">
                <a:solidFill>
                  <a:srgbClr val="282828"/>
                </a:solidFill>
              </a:defRPr>
            </a:pPr>
            <a:r>
              <a:rPr dirty="0"/>
              <a:t>• Extracted text is converted into editable digital notes and PDF.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22-09-2026</a:t>
            </a:fld>
            <a:endParaRPr lang="en-US"/>
          </a:p>
        </p:txBody>
      </p:sp>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p:txBody>
          <a:bodyPr/>
          <a:lstStyle/>
          <a:p>
            <a:r>
              <a:rPr lang="en-US" dirty="0"/>
              <a:t>REVIEW – 2    </a:t>
            </a:r>
          </a:p>
        </p:txBody>
      </p:sp>
      <p:sp>
        <p:nvSpPr>
          <p:cNvPr id="7" name="Slide Number Placeholder 6"/>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TotalTime>
  <Words>811</Words>
  <Application>Microsoft Office PowerPoint</Application>
  <PresentationFormat>Widescreen</PresentationFormat>
  <Paragraphs>75</Paragraphs>
  <Slides>10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Aptos</vt:lpstr>
      <vt:lpstr>Aptos Display</vt:lpstr>
      <vt:lpstr>Arial</vt:lpstr>
      <vt:lpstr>Calibri</vt:lpstr>
      <vt:lpstr>Calibri Light</vt:lpstr>
      <vt:lpstr>Times New Roman</vt:lpstr>
      <vt:lpstr>Custom Design</vt:lpstr>
      <vt:lpstr>Office Theme</vt:lpstr>
      <vt:lpstr> DATA SCIENCE REVIEW – 2  Handwritten Text Recognition using Deep Learning</vt:lpstr>
      <vt:lpstr>Introduction</vt:lpstr>
      <vt:lpstr>Problem Statement</vt:lpstr>
      <vt:lpstr>Objectives</vt:lpstr>
      <vt:lpstr>Literature Survey</vt:lpstr>
      <vt:lpstr>Literature Gap</vt:lpstr>
      <vt:lpstr>Flow of the Project</vt:lpstr>
      <vt:lpstr>Software and Hardware Tools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 1  Project Title</dc:title>
  <dc:creator>DELL</dc:creator>
  <cp:lastModifiedBy>Sneha Bomma</cp:lastModifiedBy>
  <cp:revision>9</cp:revision>
  <dcterms:modified xsi:type="dcterms:W3CDTF">2026-09-22T05:38:13Z</dcterms:modified>
</cp:coreProperties>
</file>